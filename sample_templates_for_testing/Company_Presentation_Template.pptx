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75B5"/>
                </a:solidFill>
                <a:latin typeface="Aptos"/>
              </a:rPr>
              <a:t>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784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7365D"/>
                </a:solidFill>
                <a:latin typeface="Aptos"/>
              </a:rPr>
              <a:t>Enterprise AI
Transformation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Prepared for: [CLIENT / BUSINESS UNIT]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49039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Prepared by: [AUTHOR / TEAM]  |  [DATE]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74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Template note: preserve title hierarchy, spacing, colors, and footer when generating new decks.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A simple executive flow for a 10–12 slide business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75B5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5544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Context &amp;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75B5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317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AI Solution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75B5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1089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Research &amp; Enterprise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75B5"/>
                </a:solidFill>
                <a:latin typeface="Apto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8862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Roadmap, Benefits &amp;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75B5"/>
                </a:solidFill>
                <a:latin typeface="Apto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6634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Sources &amp;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474720" cy="196596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91639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Business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84831"/>
            <a:ext cx="314553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[One-sentence summary of the process or business problem.]
[Key pain point and measurable impact.]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54480"/>
            <a:ext cx="3474720" cy="1965960"/>
          </a:xfrm>
          <a:prstGeom prst="roundRect">
            <a:avLst/>
          </a:prstGeom>
          <a:solidFill>
            <a:srgbClr val="F0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691639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084831"/>
            <a:ext cx="314553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[Summarize the multi-agent AI workflow, data sources, and generated outputs.]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554480"/>
            <a:ext cx="3429000" cy="1965960"/>
          </a:xfrm>
          <a:prstGeom prst="roundRect">
            <a:avLst/>
          </a:prstGeom>
          <a:solidFill>
            <a:srgbClr val="F1F7F1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Expected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84831"/>
            <a:ext cx="30998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[Efficiency]  [Quality]  [Traceability]  [User experience]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7365D"/>
                </a:solidFill>
                <a:latin typeface="Aptos"/>
              </a:rPr>
              <a:t>Key message: Use this area for the single takeaway an executive should remember after the meeting.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Business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Current-state problems to replace with generated project-specific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40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Manual content creation and repeated research tasks.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Knowledge distributed across multiple enterprise sources.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Inconsistent document and presentation formatting.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Long review cycles and limited source traceability.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91640"/>
            <a:ext cx="3383280" cy="2377440"/>
          </a:xfrm>
          <a:prstGeom prst="roundRect">
            <a:avLst/>
          </a:prstGeom>
          <a:solidFill>
            <a:srgbClr val="FDF4EB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82712" y="1828800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Target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2712" y="2221992"/>
            <a:ext cx="305409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[e.g., reduce research and drafting time by X% while preserving review quality.]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Proposed Multi-Agent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5146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965960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59152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Route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79" y="1828800"/>
            <a:ext cx="25146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965960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Doc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359152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Analyze DOCX/PDF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25146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965960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PPT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359152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Analyze slides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5146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1965960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359152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Web +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063240"/>
            <a:ext cx="2514600" cy="1005840"/>
          </a:xfrm>
          <a:prstGeom prst="roundRect">
            <a:avLst/>
          </a:prstGeom>
          <a:solidFill>
            <a:srgbClr val="F1F7F1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200400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593592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Enterprise knowledge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79" y="3063240"/>
            <a:ext cx="2514600" cy="1005840"/>
          </a:xfrm>
          <a:prstGeom prst="roundRect">
            <a:avLst/>
          </a:prstGeom>
          <a:solidFill>
            <a:srgbClr val="F1F7F1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3200400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3593592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DOCX + PPTX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063240"/>
            <a:ext cx="2514600" cy="1005840"/>
          </a:xfrm>
          <a:prstGeom prst="roundRect">
            <a:avLst/>
          </a:prstGeom>
          <a:solidFill>
            <a:srgbClr val="FDF4EB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200400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Validator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593592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Quality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063240"/>
            <a:ext cx="2514600" cy="1005840"/>
          </a:xfrm>
          <a:prstGeom prst="roundRect">
            <a:avLst/>
          </a:prstGeom>
          <a:solidFill>
            <a:srgbClr val="FDF4EB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200400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Editor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593592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Conversational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149840" cy="749808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527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User / Chat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27048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ptos"/>
              </a:rPr>
              <a:t>Natural-language request + uploads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0149840" cy="749808"/>
          </a:xfrm>
          <a:prstGeom prst="roundRect">
            <a:avLst/>
          </a:prstGeom>
          <a:solidFill>
            <a:srgbClr val="F0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41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41448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ptos"/>
              </a:rPr>
              <a:t>Intent detection and task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46120"/>
            <a:ext cx="10149840" cy="749808"/>
          </a:xfrm>
          <a:prstGeom prst="roundRect">
            <a:avLst/>
          </a:prstGeom>
          <a:solidFill>
            <a:srgbClr val="F1F7F1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55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Specialist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55848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ptos"/>
              </a:rPr>
              <a:t>Doc, PPT, Web Research, RAG, Validation, Editing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60520"/>
            <a:ext cx="10149840" cy="749808"/>
          </a:xfrm>
          <a:prstGeom prst="roundRect">
            <a:avLst/>
          </a:prstGeom>
          <a:solidFill>
            <a:srgbClr val="FDF4EB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Artifact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70248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ptos"/>
              </a:rPr>
              <a:t>Editable DOCX / PPTX +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74920"/>
            <a:ext cx="10149840" cy="749808"/>
          </a:xfrm>
          <a:prstGeom prst="roundRect">
            <a:avLst/>
          </a:prstGeom>
          <a:solidFill>
            <a:srgbClr val="F5F5F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184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Traceability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184648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ptos"/>
              </a:rPr>
              <a:t>Versions, sources, agent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Research + Enterprise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Combine current external evidence with internal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983480" cy="310896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91639"/>
            <a:ext cx="4654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Web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84831"/>
            <a:ext cx="4654296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1. Search current sources
2. Extract relevant facts
3. Preserve source URLs
4. Pass evidence to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54480"/>
            <a:ext cx="4983480" cy="3108960"/>
          </a:xfrm>
          <a:prstGeom prst="roundRect">
            <a:avLst/>
          </a:prstGeom>
          <a:solidFill>
            <a:srgbClr val="F1F7F1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91639"/>
            <a:ext cx="4654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Enterprise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084831"/>
            <a:ext cx="4654296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1. Chunk internal files
2. Create embeddings
3. Retrieve top-k context
4. Cite file / chunk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7365D"/>
                </a:solidFill>
                <a:latin typeface="Aptos"/>
              </a:rPr>
              <a:t>Traceability rule: generated claims should be linked to either web sources or enterprise knowledge.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Editable Artifact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4983480" cy="32461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37360"/>
            <a:ext cx="4654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DOCX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30552"/>
            <a:ext cx="4654296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• Reuse heading hierarchy
• Preserve tables and spacing
• Keep text editable
• Apply template tone and styles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4983480" cy="3246120"/>
          </a:xfrm>
          <a:prstGeom prst="roundRect">
            <a:avLst/>
          </a:prstGeom>
          <a:solidFill>
            <a:srgbClr val="F0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737360"/>
            <a:ext cx="4654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1112" y="2130552"/>
            <a:ext cx="4654296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• Reuse slide structure
• Preserve theme colors
• Keep text/shapes editable
• Maintain layout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2103120" cy="30175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830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Phase 1  | 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76272"/>
            <a:ext cx="177393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Requirements + template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103120" cy="3017520"/>
          </a:xfrm>
          <a:prstGeom prst="roundRect">
            <a:avLst/>
          </a:prstGeom>
          <a:solidFill>
            <a:srgbClr val="F1F7F1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7830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Phase 2  | 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76272"/>
            <a:ext cx="177393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Agents + RAG +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2936" y="1645920"/>
            <a:ext cx="2103120" cy="30175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7527" y="17830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Phase 3  | 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527" y="2176272"/>
            <a:ext cx="177393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DOCX/PPTX + citations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3" y="1645920"/>
            <a:ext cx="2103120" cy="3017520"/>
          </a:xfrm>
          <a:prstGeom prst="roundRect">
            <a:avLst/>
          </a:prstGeom>
          <a:solidFill>
            <a:srgbClr val="F1F7F1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71815" y="17830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Phase 4  | 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5" y="2176272"/>
            <a:ext cx="177393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Quality + editing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1511" y="1645920"/>
            <a:ext cx="2103120" cy="30175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76103" y="17830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Phase 5  | 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6103" y="2176272"/>
            <a:ext cx="177393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GitHub + recorded walkthrough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Expected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4173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ptos"/>
              </a:rPr>
              <a:t>Shorter research and drafting cycles.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24028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ptos"/>
              </a:rPr>
              <a:t>Reusable templates and style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Knowledge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30632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ptos"/>
              </a:rPr>
              <a:t>Search enterprise content with citations.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8862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ptos"/>
              </a:rPr>
              <a:t>Record sources, versions, and agent events.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User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70916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ptos"/>
              </a:rPr>
              <a:t>Edit artifacts through natural language.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Risks &amp;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7442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543800"/>
              </a:tblGrid>
              <a:tr h="85039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Aptos"/>
                        </a:rPr>
                        <a:t>Hallucination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ptos"/>
                        </a:rPr>
                        <a:t>RAG + web citations + validation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Aptos"/>
                        </a:rPr>
                        <a:t>Formatting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ptos"/>
                        </a:rPr>
                        <a:t>Template analysis + style metadata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Aptos"/>
                        </a:rPr>
                        <a:t>Sensitive content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ptos"/>
                        </a:rPr>
                        <a:t>Access controls and approved knowledge sources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Aptos"/>
                        </a:rPr>
                        <a:t>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ptos"/>
                        </a:rPr>
                        <a:t>Progress events + incremental version saves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365D"/>
                </a:solidFill>
                <a:latin typeface="Aptos"/>
              </a:rPr>
              <a:t>Sources, Traceability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8288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32461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45919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4791455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[Web source title] — [URL]
[Enterprise knowledge file] — [chunk id]
[Template version] — [version id]
[Generated artifact] — [artifact id]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08760"/>
            <a:ext cx="5120640" cy="3246120"/>
          </a:xfrm>
          <a:prstGeom prst="roundRect">
            <a:avLst/>
          </a:prstGeom>
          <a:solidFill>
            <a:srgbClr val="F1F7F1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645919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039112"/>
            <a:ext cx="4791455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ptos"/>
              </a:rPr>
              <a:t>1. Validate business requirements
2. Upload real templates
3. Connect approved knowledge sources
4. Run end-to-end generation demo
5. Review and publish artifacts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7365D"/>
                </a:solidFill>
                <a:latin typeface="Aptos"/>
              </a:rPr>
              <a:t>Thank you  |  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[COMPANY NAME]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473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